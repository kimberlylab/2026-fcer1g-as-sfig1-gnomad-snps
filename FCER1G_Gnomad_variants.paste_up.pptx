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68"/>
  </p:normalViewPr>
  <p:slideViewPr>
    <p:cSldViewPr snapToGrid="0">
      <p:cViewPr varScale="1">
        <p:scale>
          <a:sx n="119" d="100"/>
          <a:sy n="119" d="100"/>
        </p:scale>
        <p:origin x="1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9F260-7163-3748-9F15-2A5DC282F23A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899BA-36DC-A340-82E6-537D377D2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33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texportal.org/home/gene/FCER1G/exonExpressionTab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SNP plot in R: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KimberlyLab</a:t>
            </a:r>
            <a:r>
              <a:rPr lang="en-US" dirty="0"/>
              <a:t>/fcer1g_gnomad_snps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Transcript figure: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https://gtexportal.org/home/gene/FCER1G/exonExpressionTab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899BA-36DC-A340-82E6-537D377D25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42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421DC-0E72-3517-68C0-5873FBC3A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95AD1-57F0-132D-0BCB-43E44883C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A9313-0ECE-F106-D08B-28A2C9A05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Exon diagram copied from Figure 1 (2025-12-08; v3-2-5)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SNP plot in R: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KimberlyLab</a:t>
            </a:r>
            <a:r>
              <a:rPr lang="en-US" dirty="0"/>
              <a:t>/fcer1g_gnomad_snps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6067C-70B1-FD8F-9F52-C33CAED09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899BA-36DC-A340-82E6-537D377D25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91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B32CB-33EC-63CB-17E0-9823D34B9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5B630-B153-8964-07C1-5BC89B0C0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2FF1A2-693F-FFD1-B635-CEBB2DB55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Exon diagram copied from Figure 1 1 (2025-12-08; v3-2-5), and fixed up + red line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SNP plot in R: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KimberlyLab</a:t>
            </a:r>
            <a:r>
              <a:rPr lang="en-US"/>
              <a:t>/fcer1g_gnomad_snps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BD27F-1739-CFA7-5797-352B312CC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899BA-36DC-A340-82E6-537D377D25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41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2B8D4-B95C-30E7-213C-247B46028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2EB96-7CCA-1B19-6DCC-E4F7719DE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FFEC0-58C7-6586-075E-8BC3487F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E23E-EA94-0246-9AF1-047D01A2B12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D5726-9774-200A-C88D-CA2C4F93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D1495-05DE-CCF3-2000-58EABE10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83DB5-9533-9C4D-BA1A-743F65003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4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5A9ED-3294-8523-FA49-C60824D91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0AB32-6D73-AE67-F38A-3441804E0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38122-7F2B-C71A-2223-4983062C7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E23E-EA94-0246-9AF1-047D01A2B12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24D2D-578B-2DE6-6265-A16A02BF6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003E7-614B-71BA-2BA9-54365E496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83DB5-9533-9C4D-BA1A-743F65003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35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605D1-D7A0-2760-5747-6028FAB74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8AAEF-EE95-C36D-9739-11AC380CE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E3298-2279-9159-2916-CF40D3C67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E23E-EA94-0246-9AF1-047D01A2B12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8B1F2-F43F-46EC-2ED8-F11324D94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B693F-1EB8-7658-48C2-6091AD440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83DB5-9533-9C4D-BA1A-743F65003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65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B31C3-0267-040E-F3FA-4401855F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61F1D-E283-21E4-A337-70CAAA49E3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D0F1F-2F87-4A31-26A8-E0EA92D12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8CD4D-B4FA-66C8-532F-3A995AFD6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E23E-EA94-0246-9AF1-047D01A2B12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D6490-C617-251A-56CC-2540836C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05692-71DC-347B-280A-821F4CBA4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83DB5-9533-9C4D-BA1A-743F65003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45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8C2E5-39D3-4E63-8CEE-378C8D8FC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47F1B-F01E-9C2C-13EA-4973E0FEC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21437-77DC-6852-9A48-8F4E1E0A1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8A8F8A-65E0-26CB-1ED5-36802D5FE6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239C-5DF2-CB23-B2FF-3C19A06979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7A29E7-C5D5-0E16-22E4-11EC72642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E23E-EA94-0246-9AF1-047D01A2B12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3D3A3-304D-CF24-96A0-D324BCCE1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2A0E34-D213-9417-8608-64B96994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83DB5-9533-9C4D-BA1A-743F65003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7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55EE-2359-B34D-AE42-47C2D0C05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FA420-C6F5-A550-5D0B-EE300BD28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E23E-EA94-0246-9AF1-047D01A2B12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147847-908F-4270-433E-464E1AFA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794C2-B9A2-5034-242C-BF0B156EA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83DB5-9533-9C4D-BA1A-743F65003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886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1187E9-38D2-0E62-9325-7A48E2FF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E23E-EA94-0246-9AF1-047D01A2B12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5A627-8E5F-69A9-06CA-3BFDA9214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B9F78-BA95-DBAF-4E1E-821D3717A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83DB5-9533-9C4D-BA1A-743F65003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329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17500-0B4A-59D0-249F-1C95B7A84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DD079-95D7-A608-461B-FD340994F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432B5-9615-8DBA-6C3E-4B2D20CE6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7EFC1-5CFB-FB69-177E-9EAF24373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E23E-EA94-0246-9AF1-047D01A2B12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5CA30-55F8-F74C-78C4-98F62EE5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0A2C3-C749-5933-83E5-9D92675A4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83DB5-9533-9C4D-BA1A-743F65003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3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80E44-4AB3-6BDC-DFFD-E5F01C5A4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200ED5-2C83-62FD-73BB-4E1F4DD3A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FEE21-9191-A45B-0AC6-E0465D479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31A62-B997-8B28-A959-44A527716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E23E-EA94-0246-9AF1-047D01A2B12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6AC35-F86C-DA0D-C928-658CA6EB8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A2A07-DE0E-2CD8-1AFD-19F258015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83DB5-9533-9C4D-BA1A-743F65003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54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EFA02-6DE0-3D7D-85E5-266EE570B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B0B86-C4A1-AA2E-6339-D72E64D6A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3FE01-8F39-E3C2-0114-780936B57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E23E-EA94-0246-9AF1-047D01A2B12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B37D3-A024-FF98-6B8A-826575D57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7EB77-C539-CAA2-2301-22F9E80C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83DB5-9533-9C4D-BA1A-743F65003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26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CDE046-4AB1-10B6-4F53-C825D2922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977C5-36B6-44BE-8C07-C261173F7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76FD2-47E8-9BD9-1E61-10B6028DD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E23E-EA94-0246-9AF1-047D01A2B12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68458-168C-0B68-B7F7-937011712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D3F1-589B-65D2-9820-80831F20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83DB5-9533-9C4D-BA1A-743F65003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1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8DF60C-5E63-0489-E604-72533FFAC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1B223-A7EA-A2CE-692B-3A7367E8E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7442D-6887-6C91-C957-642C437468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2E23E-EA94-0246-9AF1-047D01A2B12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032A0-923A-C857-2053-8DF49FA69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769CF-DEE2-6FB1-3B1E-08C989DD7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283DB5-9533-9C4D-BA1A-743F65003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82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95026-C91B-28B9-29A3-A06DB2B2D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Snp</a:t>
            </a:r>
            <a:r>
              <a:rPr lang="en-US" dirty="0"/>
              <a:t> Plot hand paste-ups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685C0-1BC8-C2B1-E000-E3A35AF142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39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63B321-3414-23AB-D60C-D6F86074C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876" y="4908636"/>
            <a:ext cx="5486400" cy="1584239"/>
          </a:xfrm>
          <a:prstGeom prst="rect">
            <a:avLst/>
          </a:prstGeom>
        </p:spPr>
      </p:pic>
      <p:pic>
        <p:nvPicPr>
          <p:cNvPr id="5" name="Picture 4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341A9CFA-D0D0-018B-FFB6-208BC7350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711" y="285044"/>
            <a:ext cx="7772400" cy="3886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EDC1E3-0223-300C-4B3A-ED7CA8932C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0400" y="4296485"/>
            <a:ext cx="5158564" cy="48234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710A17C-D335-F1D4-3DB2-52FFDEDBF43C}"/>
              </a:ext>
            </a:extLst>
          </p:cNvPr>
          <p:cNvSpPr/>
          <p:nvPr/>
        </p:nvSpPr>
        <p:spPr>
          <a:xfrm>
            <a:off x="7518400" y="4171244"/>
            <a:ext cx="1433689" cy="592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UCSC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202CD1-0A2F-66F7-A420-D321347EFEB5}"/>
              </a:ext>
            </a:extLst>
          </p:cNvPr>
          <p:cNvSpPr/>
          <p:nvPr/>
        </p:nvSpPr>
        <p:spPr>
          <a:xfrm>
            <a:off x="7518400" y="5115188"/>
            <a:ext cx="1433689" cy="1457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GTex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197077-694E-B212-09A8-0C5C0DF98390}"/>
              </a:ext>
            </a:extLst>
          </p:cNvPr>
          <p:cNvSpPr/>
          <p:nvPr/>
        </p:nvSpPr>
        <p:spPr>
          <a:xfrm>
            <a:off x="7518400" y="2607473"/>
            <a:ext cx="1433689" cy="592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147993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A8512-0B1E-433E-9DB3-CA70B4675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7">
            <a:extLst>
              <a:ext uri="{FF2B5EF4-FFF2-40B4-BE49-F238E27FC236}">
                <a16:creationId xmlns:a16="http://schemas.microsoft.com/office/drawing/2014/main" id="{E0C811A1-6BA6-F350-0BC4-130734CA0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789" y="1003258"/>
            <a:ext cx="8336948" cy="3886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8BAF78-60D1-34F8-65F1-B0551D9C412D}"/>
              </a:ext>
            </a:extLst>
          </p:cNvPr>
          <p:cNvSpPr txBox="1"/>
          <p:nvPr/>
        </p:nvSpPr>
        <p:spPr>
          <a:xfrm>
            <a:off x="1713219" y="301086"/>
            <a:ext cx="8916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gnomAD</a:t>
            </a:r>
            <a:r>
              <a:rPr lang="en-US" sz="2400" dirty="0"/>
              <a:t> variants in FCER1G (non-synonymous coding; AF&gt;0.001)</a:t>
            </a:r>
          </a:p>
        </p:txBody>
      </p:sp>
      <p:sp>
        <p:nvSpPr>
          <p:cNvPr id="14" name="Oval 85">
            <a:extLst>
              <a:ext uri="{FF2B5EF4-FFF2-40B4-BE49-F238E27FC236}">
                <a16:creationId xmlns:a16="http://schemas.microsoft.com/office/drawing/2014/main" id="{620010AC-F64E-E1D7-C2CB-E9B61605A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7011" y="5065167"/>
            <a:ext cx="554433" cy="3209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 b="1" dirty="0">
                <a:solidFill>
                  <a:srgbClr val="FF0066"/>
                </a:solidFill>
              </a:rPr>
              <a:t>P(A)</a:t>
            </a:r>
          </a:p>
        </p:txBody>
      </p:sp>
      <p:grpSp>
        <p:nvGrpSpPr>
          <p:cNvPr id="15" name="Group 91">
            <a:extLst>
              <a:ext uri="{FF2B5EF4-FFF2-40B4-BE49-F238E27FC236}">
                <a16:creationId xmlns:a16="http://schemas.microsoft.com/office/drawing/2014/main" id="{259F5DFE-7ABF-341C-F982-220F68D78B4D}"/>
              </a:ext>
            </a:extLst>
          </p:cNvPr>
          <p:cNvGrpSpPr>
            <a:grpSpLocks/>
          </p:cNvGrpSpPr>
          <p:nvPr/>
        </p:nvGrpSpPr>
        <p:grpSpPr bwMode="auto">
          <a:xfrm>
            <a:off x="3428890" y="4810749"/>
            <a:ext cx="5909667" cy="246418"/>
            <a:chOff x="1264" y="2226"/>
            <a:chExt cx="3219" cy="91"/>
          </a:xfrm>
        </p:grpSpPr>
        <p:grpSp>
          <p:nvGrpSpPr>
            <p:cNvPr id="37" name="Group 92">
              <a:extLst>
                <a:ext uri="{FF2B5EF4-FFF2-40B4-BE49-F238E27FC236}">
                  <a16:creationId xmlns:a16="http://schemas.microsoft.com/office/drawing/2014/main" id="{9A538AEE-63FD-72C7-0C4C-F672C44AEE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4" y="2228"/>
              <a:ext cx="298" cy="89"/>
              <a:chOff x="1278" y="466"/>
              <a:chExt cx="280" cy="89"/>
            </a:xfrm>
          </p:grpSpPr>
          <p:sp>
            <p:nvSpPr>
              <p:cNvPr id="47" name="Line 93">
                <a:extLst>
                  <a:ext uri="{FF2B5EF4-FFF2-40B4-BE49-F238E27FC236}">
                    <a16:creationId xmlns:a16="http://schemas.microsoft.com/office/drawing/2014/main" id="{A4E834EA-C904-9172-620E-78D5DF1A57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78" y="467"/>
                <a:ext cx="142" cy="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Line 94">
                <a:extLst>
                  <a:ext uri="{FF2B5EF4-FFF2-40B4-BE49-F238E27FC236}">
                    <a16:creationId xmlns:a16="http://schemas.microsoft.com/office/drawing/2014/main" id="{2C4C8485-968F-5DFD-2BFA-E5647B4F13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416" y="466"/>
                <a:ext cx="142" cy="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" name="Group 95">
              <a:extLst>
                <a:ext uri="{FF2B5EF4-FFF2-40B4-BE49-F238E27FC236}">
                  <a16:creationId xmlns:a16="http://schemas.microsoft.com/office/drawing/2014/main" id="{AF2EE17A-B39C-C33D-6FB4-F654E5852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4" y="2226"/>
              <a:ext cx="436" cy="89"/>
              <a:chOff x="1278" y="466"/>
              <a:chExt cx="280" cy="89"/>
            </a:xfrm>
          </p:grpSpPr>
          <p:sp>
            <p:nvSpPr>
              <p:cNvPr id="45" name="Line 96">
                <a:extLst>
                  <a:ext uri="{FF2B5EF4-FFF2-40B4-BE49-F238E27FC236}">
                    <a16:creationId xmlns:a16="http://schemas.microsoft.com/office/drawing/2014/main" id="{9B291B26-7CAE-653E-942D-60C70D3ABC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78" y="467"/>
                <a:ext cx="142" cy="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Line 97">
                <a:extLst>
                  <a:ext uri="{FF2B5EF4-FFF2-40B4-BE49-F238E27FC236}">
                    <a16:creationId xmlns:a16="http://schemas.microsoft.com/office/drawing/2014/main" id="{61552318-E61A-0716-074B-3D422CF93B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416" y="466"/>
                <a:ext cx="142" cy="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9" name="Group 98">
              <a:extLst>
                <a:ext uri="{FF2B5EF4-FFF2-40B4-BE49-F238E27FC236}">
                  <a16:creationId xmlns:a16="http://schemas.microsoft.com/office/drawing/2014/main" id="{53A6F252-89C3-DA16-326B-4163D4A6B0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9" y="2227"/>
              <a:ext cx="708" cy="89"/>
              <a:chOff x="1278" y="466"/>
              <a:chExt cx="280" cy="89"/>
            </a:xfrm>
          </p:grpSpPr>
          <p:sp>
            <p:nvSpPr>
              <p:cNvPr id="43" name="Line 99">
                <a:extLst>
                  <a:ext uri="{FF2B5EF4-FFF2-40B4-BE49-F238E27FC236}">
                    <a16:creationId xmlns:a16="http://schemas.microsoft.com/office/drawing/2014/main" id="{C167EEBD-910C-CD5E-08AA-15B46368F6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78" y="467"/>
                <a:ext cx="142" cy="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Line 100">
                <a:extLst>
                  <a:ext uri="{FF2B5EF4-FFF2-40B4-BE49-F238E27FC236}">
                    <a16:creationId xmlns:a16="http://schemas.microsoft.com/office/drawing/2014/main" id="{CAA7B2BC-12BD-B97A-B619-66AC8D2832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416" y="466"/>
                <a:ext cx="142" cy="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" name="Group 101">
              <a:extLst>
                <a:ext uri="{FF2B5EF4-FFF2-40B4-BE49-F238E27FC236}">
                  <a16:creationId xmlns:a16="http://schemas.microsoft.com/office/drawing/2014/main" id="{7796E1AF-8A78-9C50-318F-820EB7C6F8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1" y="2253"/>
              <a:ext cx="1242" cy="63"/>
              <a:chOff x="1278" y="466"/>
              <a:chExt cx="280" cy="89"/>
            </a:xfrm>
          </p:grpSpPr>
          <p:sp>
            <p:nvSpPr>
              <p:cNvPr id="41" name="Line 102">
                <a:extLst>
                  <a:ext uri="{FF2B5EF4-FFF2-40B4-BE49-F238E27FC236}">
                    <a16:creationId xmlns:a16="http://schemas.microsoft.com/office/drawing/2014/main" id="{EF919FBD-2B69-F4AE-DD0B-3AD99ACD2E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78" y="467"/>
                <a:ext cx="142" cy="88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103">
                <a:extLst>
                  <a:ext uri="{FF2B5EF4-FFF2-40B4-BE49-F238E27FC236}">
                    <a16:creationId xmlns:a16="http://schemas.microsoft.com/office/drawing/2014/main" id="{64056417-ADEC-B605-8A1D-D09058D073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416" y="466"/>
                <a:ext cx="142" cy="88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6" name="Group 2">
            <a:extLst>
              <a:ext uri="{FF2B5EF4-FFF2-40B4-BE49-F238E27FC236}">
                <a16:creationId xmlns:a16="http://schemas.microsoft.com/office/drawing/2014/main" id="{341C9336-4718-08F3-D83F-0CC829F7396D}"/>
              </a:ext>
            </a:extLst>
          </p:cNvPr>
          <p:cNvGrpSpPr>
            <a:grpSpLocks/>
          </p:cNvGrpSpPr>
          <p:nvPr/>
        </p:nvGrpSpPr>
        <p:grpSpPr bwMode="auto">
          <a:xfrm>
            <a:off x="3045194" y="5170267"/>
            <a:ext cx="7394885" cy="116724"/>
            <a:chOff x="1370" y="634"/>
            <a:chExt cx="4028" cy="72"/>
          </a:xfrm>
        </p:grpSpPr>
        <p:sp>
          <p:nvSpPr>
            <p:cNvPr id="34" name="Line 3">
              <a:extLst>
                <a:ext uri="{FF2B5EF4-FFF2-40B4-BE49-F238E27FC236}">
                  <a16:creationId xmlns:a16="http://schemas.microsoft.com/office/drawing/2014/main" id="{3A74B926-052E-7118-E14F-98F1A897B2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0" y="670"/>
              <a:ext cx="40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4">
              <a:extLst>
                <a:ext uri="{FF2B5EF4-FFF2-40B4-BE49-F238E27FC236}">
                  <a16:creationId xmlns:a16="http://schemas.microsoft.com/office/drawing/2014/main" id="{3E7CA7E7-E59F-9A92-1AFE-CE7EDDC6DB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74" y="634"/>
              <a:ext cx="72" cy="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5">
              <a:extLst>
                <a:ext uri="{FF2B5EF4-FFF2-40B4-BE49-F238E27FC236}">
                  <a16:creationId xmlns:a16="http://schemas.microsoft.com/office/drawing/2014/main" id="{87629735-DBBD-04D1-4760-484CC6A59B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9" y="634"/>
              <a:ext cx="72" cy="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Rectangle 6">
            <a:extLst>
              <a:ext uri="{FF2B5EF4-FFF2-40B4-BE49-F238E27FC236}">
                <a16:creationId xmlns:a16="http://schemas.microsoft.com/office/drawing/2014/main" id="{19D1EADB-0C71-8B60-C149-568B86BB9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6079" y="5047058"/>
            <a:ext cx="346980" cy="36314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99EFBA63-422E-47D1-7DF1-0D0AC8421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736" y="5047058"/>
            <a:ext cx="242335" cy="36314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EF4310B7-FE56-CFEA-82CC-F53C05B1E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995" y="5047058"/>
            <a:ext cx="504865" cy="36314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" name="Rectangle 22">
            <a:extLst>
              <a:ext uri="{FF2B5EF4-FFF2-40B4-BE49-F238E27FC236}">
                <a16:creationId xmlns:a16="http://schemas.microsoft.com/office/drawing/2014/main" id="{AB8FA835-DE9A-4972-F36A-3627DE319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0953" y="5047058"/>
            <a:ext cx="205617" cy="36314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213A88FA-00CF-5121-A335-CF42D1D31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1478" y="5047058"/>
            <a:ext cx="240499" cy="36314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" name="Rectangle 24">
            <a:extLst>
              <a:ext uri="{FF2B5EF4-FFF2-40B4-BE49-F238E27FC236}">
                <a16:creationId xmlns:a16="http://schemas.microsoft.com/office/drawing/2014/main" id="{03C671E6-95B7-0B3B-46BF-6A89D6AD3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0610" y="5068239"/>
            <a:ext cx="1488022" cy="277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 i="1" dirty="0"/>
              <a:t>FCER1G</a:t>
            </a:r>
            <a:r>
              <a:rPr lang="en-US" altLang="en-US" sz="1200" b="1" dirty="0"/>
              <a:t> exons</a:t>
            </a:r>
          </a:p>
        </p:txBody>
      </p:sp>
      <p:sp>
        <p:nvSpPr>
          <p:cNvPr id="23" name="Rectangle 32">
            <a:extLst>
              <a:ext uri="{FF2B5EF4-FFF2-40B4-BE49-F238E27FC236}">
                <a16:creationId xmlns:a16="http://schemas.microsoft.com/office/drawing/2014/main" id="{340B19D2-A566-A227-8AC1-79AC9A6BD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6597" y="5087588"/>
            <a:ext cx="310262" cy="28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/>
              <a:t>3</a:t>
            </a:r>
          </a:p>
        </p:txBody>
      </p:sp>
      <p:sp>
        <p:nvSpPr>
          <p:cNvPr id="24" name="Rectangle 51" descr="10%">
            <a:extLst>
              <a:ext uri="{FF2B5EF4-FFF2-40B4-BE49-F238E27FC236}">
                <a16:creationId xmlns:a16="http://schemas.microsoft.com/office/drawing/2014/main" id="{AD2791F5-A9DB-16FA-B9D3-C8CC041EE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6671" y="5037331"/>
            <a:ext cx="629066" cy="36314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25" name="Oval 52">
            <a:extLst>
              <a:ext uri="{FF2B5EF4-FFF2-40B4-BE49-F238E27FC236}">
                <a16:creationId xmlns:a16="http://schemas.microsoft.com/office/drawing/2014/main" id="{42DE19FF-2863-C0AE-1A25-71F1B5ACD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668" y="5060028"/>
            <a:ext cx="554433" cy="3209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 b="1"/>
              <a:t>P(A)</a:t>
            </a:r>
          </a:p>
        </p:txBody>
      </p:sp>
      <p:sp>
        <p:nvSpPr>
          <p:cNvPr id="26" name="Rectangle 53">
            <a:extLst>
              <a:ext uri="{FF2B5EF4-FFF2-40B4-BE49-F238E27FC236}">
                <a16:creationId xmlns:a16="http://schemas.microsoft.com/office/drawing/2014/main" id="{8773565C-C09A-65A0-54A5-D84A95825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0854" y="5087588"/>
            <a:ext cx="310263" cy="28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 dirty="0"/>
              <a:t>1</a:t>
            </a:r>
          </a:p>
        </p:txBody>
      </p:sp>
      <p:sp>
        <p:nvSpPr>
          <p:cNvPr id="27" name="Rectangle 56">
            <a:extLst>
              <a:ext uri="{FF2B5EF4-FFF2-40B4-BE49-F238E27FC236}">
                <a16:creationId xmlns:a16="http://schemas.microsoft.com/office/drawing/2014/main" id="{908421ED-62A3-B1CF-6941-5514E44D0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4297" y="5087588"/>
            <a:ext cx="310262" cy="28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/>
              <a:t>2</a:t>
            </a:r>
          </a:p>
        </p:txBody>
      </p:sp>
      <p:sp>
        <p:nvSpPr>
          <p:cNvPr id="28" name="Rectangle 57">
            <a:extLst>
              <a:ext uri="{FF2B5EF4-FFF2-40B4-BE49-F238E27FC236}">
                <a16:creationId xmlns:a16="http://schemas.microsoft.com/office/drawing/2014/main" id="{51ED22AA-2F9D-66A8-CE72-054E4DEA5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7713" y="5087588"/>
            <a:ext cx="310262" cy="28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/>
              <a:t>4</a:t>
            </a:r>
          </a:p>
        </p:txBody>
      </p:sp>
      <p:sp>
        <p:nvSpPr>
          <p:cNvPr id="29" name="Rectangle 58">
            <a:extLst>
              <a:ext uri="{FF2B5EF4-FFF2-40B4-BE49-F238E27FC236}">
                <a16:creationId xmlns:a16="http://schemas.microsoft.com/office/drawing/2014/main" id="{2798DD9C-FAFE-4364-FDB7-BEB2257FF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4437" y="5087588"/>
            <a:ext cx="310263" cy="28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/>
              <a:t>5</a:t>
            </a:r>
          </a:p>
        </p:txBody>
      </p:sp>
      <p:sp>
        <p:nvSpPr>
          <p:cNvPr id="30" name="Rectangle 59">
            <a:extLst>
              <a:ext uri="{FF2B5EF4-FFF2-40B4-BE49-F238E27FC236}">
                <a16:creationId xmlns:a16="http://schemas.microsoft.com/office/drawing/2014/main" id="{531D5980-03E6-1B98-F524-961B99F0B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2575" y="5079482"/>
            <a:ext cx="359831" cy="28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/>
              <a:t>5’</a:t>
            </a:r>
          </a:p>
        </p:txBody>
      </p:sp>
      <p:grpSp>
        <p:nvGrpSpPr>
          <p:cNvPr id="31" name="Group 70">
            <a:extLst>
              <a:ext uri="{FF2B5EF4-FFF2-40B4-BE49-F238E27FC236}">
                <a16:creationId xmlns:a16="http://schemas.microsoft.com/office/drawing/2014/main" id="{B077701C-D8B5-CF21-0CCC-A27FF71F589B}"/>
              </a:ext>
            </a:extLst>
          </p:cNvPr>
          <p:cNvGrpSpPr>
            <a:grpSpLocks/>
          </p:cNvGrpSpPr>
          <p:nvPr/>
        </p:nvGrpSpPr>
        <p:grpSpPr bwMode="auto">
          <a:xfrm>
            <a:off x="7047391" y="4807440"/>
            <a:ext cx="609509" cy="250195"/>
            <a:chOff x="1278" y="466"/>
            <a:chExt cx="280" cy="89"/>
          </a:xfrm>
        </p:grpSpPr>
        <p:sp>
          <p:nvSpPr>
            <p:cNvPr id="32" name="Line 71">
              <a:extLst>
                <a:ext uri="{FF2B5EF4-FFF2-40B4-BE49-F238E27FC236}">
                  <a16:creationId xmlns:a16="http://schemas.microsoft.com/office/drawing/2014/main" id="{6E0E013C-641C-71E5-6D56-33990CD02A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8" y="467"/>
              <a:ext cx="142" cy="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72">
              <a:extLst>
                <a:ext uri="{FF2B5EF4-FFF2-40B4-BE49-F238E27FC236}">
                  <a16:creationId xmlns:a16="http://schemas.microsoft.com/office/drawing/2014/main" id="{0DC0C8B7-1F3A-9611-512C-C029218C9B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16" y="466"/>
              <a:ext cx="142" cy="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" name="Rectangle 11">
            <a:extLst>
              <a:ext uri="{FF2B5EF4-FFF2-40B4-BE49-F238E27FC236}">
                <a16:creationId xmlns:a16="http://schemas.microsoft.com/office/drawing/2014/main" id="{CF1AF504-51FB-0397-ECC9-FBD622FBD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551" y="5419885"/>
            <a:ext cx="1719896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 dirty="0"/>
              <a:t>WT-</a:t>
            </a:r>
            <a:r>
              <a:rPr lang="en-US" altLang="en-US" sz="1400" b="1" dirty="0" err="1"/>
              <a:t>FcR</a:t>
            </a:r>
            <a:r>
              <a:rPr lang="en-US" altLang="en-US" sz="1400" b="1" dirty="0" err="1">
                <a:latin typeface="Symbol" panose="05050102010706020507" pitchFamily="18" charset="2"/>
              </a:rPr>
              <a:t>g</a:t>
            </a:r>
            <a:r>
              <a:rPr lang="en-US" altLang="en-US" sz="1400" b="1" dirty="0"/>
              <a:t> mRNA</a:t>
            </a:r>
          </a:p>
        </p:txBody>
      </p:sp>
      <p:sp>
        <p:nvSpPr>
          <p:cNvPr id="68" name="Rectangle 37">
            <a:extLst>
              <a:ext uri="{FF2B5EF4-FFF2-40B4-BE49-F238E27FC236}">
                <a16:creationId xmlns:a16="http://schemas.microsoft.com/office/drawing/2014/main" id="{1A513BBF-46B5-9EBC-53B1-47780944B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3781" y="5390210"/>
            <a:ext cx="1687662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 dirty="0">
                <a:solidFill>
                  <a:srgbClr val="FF0000"/>
                </a:solidFill>
              </a:rPr>
              <a:t>AS-</a:t>
            </a:r>
            <a:r>
              <a:rPr lang="en-US" altLang="en-US" sz="1400" b="1" dirty="0" err="1">
                <a:solidFill>
                  <a:srgbClr val="FF0000"/>
                </a:solidFill>
              </a:rPr>
              <a:t>FcR</a:t>
            </a:r>
            <a:r>
              <a:rPr lang="en-US" altLang="en-US" sz="1400" b="1" dirty="0" err="1">
                <a:solidFill>
                  <a:srgbClr val="FF0000"/>
                </a:solidFill>
                <a:latin typeface="Symbol" panose="05050102010706020507" pitchFamily="18" charset="2"/>
              </a:rPr>
              <a:t>g</a:t>
            </a:r>
            <a:r>
              <a:rPr lang="en-US" altLang="en-US" sz="1400" b="1" dirty="0">
                <a:solidFill>
                  <a:srgbClr val="FF0000"/>
                </a:solidFill>
              </a:rPr>
              <a:t> mRNA</a:t>
            </a:r>
          </a:p>
        </p:txBody>
      </p:sp>
    </p:spTree>
    <p:extLst>
      <p:ext uri="{BB962C8B-B14F-4D97-AF65-F5344CB8AC3E}">
        <p14:creationId xmlns:p14="http://schemas.microsoft.com/office/powerpoint/2010/main" val="1555929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15665-53FE-8B01-5537-EF8C7BEAE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C795C1-249C-1420-105A-F61344BC4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912" y="800007"/>
            <a:ext cx="8282553" cy="4141277"/>
          </a:xfrm>
          <a:prstGeom prst="rect">
            <a:avLst/>
          </a:prstGeom>
        </p:spPr>
      </p:pic>
      <p:grpSp>
        <p:nvGrpSpPr>
          <p:cNvPr id="15" name="Group 91">
            <a:extLst>
              <a:ext uri="{FF2B5EF4-FFF2-40B4-BE49-F238E27FC236}">
                <a16:creationId xmlns:a16="http://schemas.microsoft.com/office/drawing/2014/main" id="{AFB1242E-B33A-6EDC-7DFA-41B6D18B3C71}"/>
              </a:ext>
            </a:extLst>
          </p:cNvPr>
          <p:cNvGrpSpPr>
            <a:grpSpLocks/>
          </p:cNvGrpSpPr>
          <p:nvPr/>
        </p:nvGrpSpPr>
        <p:grpSpPr bwMode="auto">
          <a:xfrm>
            <a:off x="3432561" y="4810743"/>
            <a:ext cx="5905995" cy="265373"/>
            <a:chOff x="1266" y="2226"/>
            <a:chExt cx="3217" cy="98"/>
          </a:xfrm>
        </p:grpSpPr>
        <p:grpSp>
          <p:nvGrpSpPr>
            <p:cNvPr id="37" name="Group 92">
              <a:extLst>
                <a:ext uri="{FF2B5EF4-FFF2-40B4-BE49-F238E27FC236}">
                  <a16:creationId xmlns:a16="http://schemas.microsoft.com/office/drawing/2014/main" id="{13A0921F-75F3-846E-BB68-E16A2735F1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6" y="2228"/>
              <a:ext cx="298" cy="89"/>
              <a:chOff x="1280" y="466"/>
              <a:chExt cx="280" cy="89"/>
            </a:xfrm>
          </p:grpSpPr>
          <p:sp>
            <p:nvSpPr>
              <p:cNvPr id="47" name="Line 93">
                <a:extLst>
                  <a:ext uri="{FF2B5EF4-FFF2-40B4-BE49-F238E27FC236}">
                    <a16:creationId xmlns:a16="http://schemas.microsoft.com/office/drawing/2014/main" id="{C5AE8880-2792-5435-9196-A1ADD8C99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80" y="467"/>
                <a:ext cx="142" cy="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Line 94">
                <a:extLst>
                  <a:ext uri="{FF2B5EF4-FFF2-40B4-BE49-F238E27FC236}">
                    <a16:creationId xmlns:a16="http://schemas.microsoft.com/office/drawing/2014/main" id="{785EF704-D14E-9C03-1EC6-7B4AC2A091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418" y="466"/>
                <a:ext cx="142" cy="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" name="Group 95">
              <a:extLst>
                <a:ext uri="{FF2B5EF4-FFF2-40B4-BE49-F238E27FC236}">
                  <a16:creationId xmlns:a16="http://schemas.microsoft.com/office/drawing/2014/main" id="{A4A6C5FE-A99E-81B0-213E-2A1694E290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4" y="2226"/>
              <a:ext cx="436" cy="89"/>
              <a:chOff x="1278" y="466"/>
              <a:chExt cx="280" cy="89"/>
            </a:xfrm>
          </p:grpSpPr>
          <p:sp>
            <p:nvSpPr>
              <p:cNvPr id="45" name="Line 96">
                <a:extLst>
                  <a:ext uri="{FF2B5EF4-FFF2-40B4-BE49-F238E27FC236}">
                    <a16:creationId xmlns:a16="http://schemas.microsoft.com/office/drawing/2014/main" id="{FF392846-67AD-3051-C88E-CA782C1AE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78" y="467"/>
                <a:ext cx="142" cy="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Line 97">
                <a:extLst>
                  <a:ext uri="{FF2B5EF4-FFF2-40B4-BE49-F238E27FC236}">
                    <a16:creationId xmlns:a16="http://schemas.microsoft.com/office/drawing/2014/main" id="{A64D3B3E-CE49-6E36-FB01-429A579A91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416" y="466"/>
                <a:ext cx="142" cy="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9" name="Group 98">
              <a:extLst>
                <a:ext uri="{FF2B5EF4-FFF2-40B4-BE49-F238E27FC236}">
                  <a16:creationId xmlns:a16="http://schemas.microsoft.com/office/drawing/2014/main" id="{25EB4727-8742-3C56-0C67-0C387D8335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227"/>
              <a:ext cx="708" cy="89"/>
              <a:chOff x="1281" y="466"/>
              <a:chExt cx="280" cy="89"/>
            </a:xfrm>
          </p:grpSpPr>
          <p:sp>
            <p:nvSpPr>
              <p:cNvPr id="43" name="Line 99">
                <a:extLst>
                  <a:ext uri="{FF2B5EF4-FFF2-40B4-BE49-F238E27FC236}">
                    <a16:creationId xmlns:a16="http://schemas.microsoft.com/office/drawing/2014/main" id="{C46AC997-229D-8790-7B74-1DE1B89B12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81" y="467"/>
                <a:ext cx="142" cy="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Line 100">
                <a:extLst>
                  <a:ext uri="{FF2B5EF4-FFF2-40B4-BE49-F238E27FC236}">
                    <a16:creationId xmlns:a16="http://schemas.microsoft.com/office/drawing/2014/main" id="{052EF41E-71B9-0947-2CED-5B2AB1DF5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419" y="466"/>
                <a:ext cx="142" cy="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" name="Group 101">
              <a:extLst>
                <a:ext uri="{FF2B5EF4-FFF2-40B4-BE49-F238E27FC236}">
                  <a16:creationId xmlns:a16="http://schemas.microsoft.com/office/drawing/2014/main" id="{C6E4E7EC-C5CA-736E-8509-6496632D76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1" y="2252"/>
              <a:ext cx="1242" cy="72"/>
              <a:chOff x="1278" y="466"/>
              <a:chExt cx="280" cy="102"/>
            </a:xfrm>
          </p:grpSpPr>
          <p:sp>
            <p:nvSpPr>
              <p:cNvPr id="41" name="Line 102">
                <a:extLst>
                  <a:ext uri="{FF2B5EF4-FFF2-40B4-BE49-F238E27FC236}">
                    <a16:creationId xmlns:a16="http://schemas.microsoft.com/office/drawing/2014/main" id="{7C4981E5-5FAE-5692-6C76-EAACA049D0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78" y="467"/>
                <a:ext cx="142" cy="10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103">
                <a:extLst>
                  <a:ext uri="{FF2B5EF4-FFF2-40B4-BE49-F238E27FC236}">
                    <a16:creationId xmlns:a16="http://schemas.microsoft.com/office/drawing/2014/main" id="{BDE47D40-9018-3AE2-7D1F-4A12FD2236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416" y="466"/>
                <a:ext cx="142" cy="88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89" name="Line 99">
            <a:extLst>
              <a:ext uri="{FF2B5EF4-FFF2-40B4-BE49-F238E27FC236}">
                <a16:creationId xmlns:a16="http://schemas.microsoft.com/office/drawing/2014/main" id="{532C755B-5EDE-14AF-876B-E2F74E5689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44081" y="4847450"/>
            <a:ext cx="659182" cy="23829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Line 100">
            <a:extLst>
              <a:ext uri="{FF2B5EF4-FFF2-40B4-BE49-F238E27FC236}">
                <a16:creationId xmlns:a16="http://schemas.microsoft.com/office/drawing/2014/main" id="{DA172EA6-63A8-F5D7-2420-B8F9D8422FC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84695" y="4844742"/>
            <a:ext cx="659182" cy="23829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" name="Line 96">
            <a:extLst>
              <a:ext uri="{FF2B5EF4-FFF2-40B4-BE49-F238E27FC236}">
                <a16:creationId xmlns:a16="http://schemas.microsoft.com/office/drawing/2014/main" id="{3DA76E20-9FBF-D807-15B7-DCF82B727F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4701" y="4844743"/>
            <a:ext cx="405937" cy="23829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Line 97">
            <a:extLst>
              <a:ext uri="{FF2B5EF4-FFF2-40B4-BE49-F238E27FC236}">
                <a16:creationId xmlns:a16="http://schemas.microsoft.com/office/drawing/2014/main" id="{E437370E-C7FC-4910-15E1-73DD4FD337C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89204" y="4842035"/>
            <a:ext cx="405937" cy="23829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Line 93">
            <a:extLst>
              <a:ext uri="{FF2B5EF4-FFF2-40B4-BE49-F238E27FC236}">
                <a16:creationId xmlns:a16="http://schemas.microsoft.com/office/drawing/2014/main" id="{996C0B99-537D-BE81-8866-97821F2506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34712" y="4856214"/>
            <a:ext cx="277452" cy="23829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" name="Line 94">
            <a:extLst>
              <a:ext uri="{FF2B5EF4-FFF2-40B4-BE49-F238E27FC236}">
                <a16:creationId xmlns:a16="http://schemas.microsoft.com/office/drawing/2014/main" id="{8D2BB382-FF16-DACB-0841-196FB17246D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04349" y="4853506"/>
            <a:ext cx="277452" cy="23829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160CF9-7972-48CB-55C3-F8D592816702}"/>
              </a:ext>
            </a:extLst>
          </p:cNvPr>
          <p:cNvSpPr txBox="1"/>
          <p:nvPr/>
        </p:nvSpPr>
        <p:spPr>
          <a:xfrm>
            <a:off x="1713219" y="301086"/>
            <a:ext cx="8916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gnomAD</a:t>
            </a:r>
            <a:r>
              <a:rPr lang="en-US" sz="2400" dirty="0"/>
              <a:t> variants in FCER1G (non-synonymous coding; AF&gt;0.001)</a:t>
            </a:r>
          </a:p>
        </p:txBody>
      </p:sp>
      <p:grpSp>
        <p:nvGrpSpPr>
          <p:cNvPr id="16" name="Group 2">
            <a:extLst>
              <a:ext uri="{FF2B5EF4-FFF2-40B4-BE49-F238E27FC236}">
                <a16:creationId xmlns:a16="http://schemas.microsoft.com/office/drawing/2014/main" id="{B712814F-D19A-797D-48A9-C40732DD973D}"/>
              </a:ext>
            </a:extLst>
          </p:cNvPr>
          <p:cNvGrpSpPr>
            <a:grpSpLocks/>
          </p:cNvGrpSpPr>
          <p:nvPr/>
        </p:nvGrpSpPr>
        <p:grpSpPr bwMode="auto">
          <a:xfrm>
            <a:off x="3045194" y="5170267"/>
            <a:ext cx="7394885" cy="116724"/>
            <a:chOff x="1370" y="634"/>
            <a:chExt cx="4028" cy="72"/>
          </a:xfrm>
        </p:grpSpPr>
        <p:sp>
          <p:nvSpPr>
            <p:cNvPr id="34" name="Line 3">
              <a:extLst>
                <a:ext uri="{FF2B5EF4-FFF2-40B4-BE49-F238E27FC236}">
                  <a16:creationId xmlns:a16="http://schemas.microsoft.com/office/drawing/2014/main" id="{7AB596C9-4615-643E-8BDD-81EC9C523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0" y="670"/>
              <a:ext cx="40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4">
              <a:extLst>
                <a:ext uri="{FF2B5EF4-FFF2-40B4-BE49-F238E27FC236}">
                  <a16:creationId xmlns:a16="http://schemas.microsoft.com/office/drawing/2014/main" id="{7CC7A0C2-80CA-1993-B6FB-3D42866472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74" y="634"/>
              <a:ext cx="72" cy="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5">
              <a:extLst>
                <a:ext uri="{FF2B5EF4-FFF2-40B4-BE49-F238E27FC236}">
                  <a16:creationId xmlns:a16="http://schemas.microsoft.com/office/drawing/2014/main" id="{38E8579A-7302-B921-5AAB-75E483784E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9" y="634"/>
              <a:ext cx="72" cy="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Rectangle 6">
            <a:extLst>
              <a:ext uri="{FF2B5EF4-FFF2-40B4-BE49-F238E27FC236}">
                <a16:creationId xmlns:a16="http://schemas.microsoft.com/office/drawing/2014/main" id="{5B62D5E9-5B06-D33C-90FA-072547267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6079" y="5047058"/>
            <a:ext cx="346980" cy="36314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251106B2-41FA-62BD-B470-5BD1C6FA1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736" y="5047058"/>
            <a:ext cx="242335" cy="36314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E93BE228-8463-D203-5077-3FBC66B7D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995" y="5047058"/>
            <a:ext cx="504865" cy="36314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" name="Rectangle 22">
            <a:extLst>
              <a:ext uri="{FF2B5EF4-FFF2-40B4-BE49-F238E27FC236}">
                <a16:creationId xmlns:a16="http://schemas.microsoft.com/office/drawing/2014/main" id="{270EBE7D-F102-E8A4-CBA1-C58A12A57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0953" y="5047058"/>
            <a:ext cx="205617" cy="36314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E8AB60E2-A939-A0C4-A06E-003F34A1C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1478" y="5047058"/>
            <a:ext cx="240499" cy="36314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" name="Rectangle 32">
            <a:extLst>
              <a:ext uri="{FF2B5EF4-FFF2-40B4-BE49-F238E27FC236}">
                <a16:creationId xmlns:a16="http://schemas.microsoft.com/office/drawing/2014/main" id="{B08B759B-1DE3-75BA-4475-85D61454F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6597" y="5087588"/>
            <a:ext cx="310262" cy="28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/>
              <a:t>3</a:t>
            </a:r>
          </a:p>
        </p:txBody>
      </p:sp>
      <p:sp>
        <p:nvSpPr>
          <p:cNvPr id="24" name="Rectangle 51" descr="10%">
            <a:extLst>
              <a:ext uri="{FF2B5EF4-FFF2-40B4-BE49-F238E27FC236}">
                <a16:creationId xmlns:a16="http://schemas.microsoft.com/office/drawing/2014/main" id="{CEBF729F-117E-07A0-0E3C-3C6C014BD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6671" y="5037331"/>
            <a:ext cx="629066" cy="36314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25" name="Oval 52">
            <a:extLst>
              <a:ext uri="{FF2B5EF4-FFF2-40B4-BE49-F238E27FC236}">
                <a16:creationId xmlns:a16="http://schemas.microsoft.com/office/drawing/2014/main" id="{A6FF8B93-268C-C02D-58AD-B1318BA77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668" y="5060028"/>
            <a:ext cx="554433" cy="3209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 b="1"/>
              <a:t>P(A)</a:t>
            </a:r>
          </a:p>
        </p:txBody>
      </p:sp>
      <p:sp>
        <p:nvSpPr>
          <p:cNvPr id="26" name="Rectangle 53">
            <a:extLst>
              <a:ext uri="{FF2B5EF4-FFF2-40B4-BE49-F238E27FC236}">
                <a16:creationId xmlns:a16="http://schemas.microsoft.com/office/drawing/2014/main" id="{9656B867-669A-7250-828A-696397D10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0854" y="5087588"/>
            <a:ext cx="310263" cy="28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 dirty="0"/>
              <a:t>1</a:t>
            </a:r>
          </a:p>
        </p:txBody>
      </p:sp>
      <p:sp>
        <p:nvSpPr>
          <p:cNvPr id="27" name="Rectangle 56">
            <a:extLst>
              <a:ext uri="{FF2B5EF4-FFF2-40B4-BE49-F238E27FC236}">
                <a16:creationId xmlns:a16="http://schemas.microsoft.com/office/drawing/2014/main" id="{7F9B1488-B2B9-B3FB-315C-F950A160C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4297" y="5087588"/>
            <a:ext cx="310262" cy="28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/>
              <a:t>2</a:t>
            </a:r>
          </a:p>
        </p:txBody>
      </p:sp>
      <p:sp>
        <p:nvSpPr>
          <p:cNvPr id="28" name="Rectangle 57">
            <a:extLst>
              <a:ext uri="{FF2B5EF4-FFF2-40B4-BE49-F238E27FC236}">
                <a16:creationId xmlns:a16="http://schemas.microsoft.com/office/drawing/2014/main" id="{BB1EA0B6-4F63-8FF4-1164-6C14EEF17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7713" y="5087588"/>
            <a:ext cx="310262" cy="28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/>
              <a:t>4</a:t>
            </a:r>
          </a:p>
        </p:txBody>
      </p:sp>
      <p:sp>
        <p:nvSpPr>
          <p:cNvPr id="29" name="Rectangle 58">
            <a:extLst>
              <a:ext uri="{FF2B5EF4-FFF2-40B4-BE49-F238E27FC236}">
                <a16:creationId xmlns:a16="http://schemas.microsoft.com/office/drawing/2014/main" id="{06C791E9-FE6C-F9CB-257C-D3D324E11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4437" y="5087588"/>
            <a:ext cx="310263" cy="28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/>
              <a:t>5</a:t>
            </a:r>
          </a:p>
        </p:txBody>
      </p:sp>
      <p:sp>
        <p:nvSpPr>
          <p:cNvPr id="30" name="Rectangle 59">
            <a:extLst>
              <a:ext uri="{FF2B5EF4-FFF2-40B4-BE49-F238E27FC236}">
                <a16:creationId xmlns:a16="http://schemas.microsoft.com/office/drawing/2014/main" id="{91AF9569-550E-A765-41B3-0CA4A38C2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2575" y="5079482"/>
            <a:ext cx="359831" cy="28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/>
              <a:t>5’</a:t>
            </a:r>
          </a:p>
        </p:txBody>
      </p:sp>
      <p:grpSp>
        <p:nvGrpSpPr>
          <p:cNvPr id="31" name="Group 70">
            <a:extLst>
              <a:ext uri="{FF2B5EF4-FFF2-40B4-BE49-F238E27FC236}">
                <a16:creationId xmlns:a16="http://schemas.microsoft.com/office/drawing/2014/main" id="{9D9BAE28-3879-F8DE-5BB4-F6E995F767EB}"/>
              </a:ext>
            </a:extLst>
          </p:cNvPr>
          <p:cNvGrpSpPr>
            <a:grpSpLocks/>
          </p:cNvGrpSpPr>
          <p:nvPr/>
        </p:nvGrpSpPr>
        <p:grpSpPr bwMode="auto">
          <a:xfrm>
            <a:off x="7047391" y="4807440"/>
            <a:ext cx="609509" cy="250195"/>
            <a:chOff x="1278" y="466"/>
            <a:chExt cx="280" cy="89"/>
          </a:xfrm>
        </p:grpSpPr>
        <p:sp>
          <p:nvSpPr>
            <p:cNvPr id="32" name="Line 71">
              <a:extLst>
                <a:ext uri="{FF2B5EF4-FFF2-40B4-BE49-F238E27FC236}">
                  <a16:creationId xmlns:a16="http://schemas.microsoft.com/office/drawing/2014/main" id="{5A27126E-F1AF-4FD6-3D30-CB9EAF184E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8" y="467"/>
              <a:ext cx="142" cy="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72">
              <a:extLst>
                <a:ext uri="{FF2B5EF4-FFF2-40B4-BE49-F238E27FC236}">
                  <a16:creationId xmlns:a16="http://schemas.microsoft.com/office/drawing/2014/main" id="{06EAC69E-E036-CD1E-22D1-98566565C5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16" y="466"/>
              <a:ext cx="142" cy="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" name="Rectangle 11">
            <a:extLst>
              <a:ext uri="{FF2B5EF4-FFF2-40B4-BE49-F238E27FC236}">
                <a16:creationId xmlns:a16="http://schemas.microsoft.com/office/drawing/2014/main" id="{440080E8-FC07-24DD-CE96-E0997CDB3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800" y="4891415"/>
            <a:ext cx="1719896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 dirty="0"/>
              <a:t>WT-</a:t>
            </a:r>
            <a:r>
              <a:rPr lang="en-US" altLang="en-US" sz="1400" b="1" dirty="0" err="1"/>
              <a:t>FcR</a:t>
            </a:r>
            <a:r>
              <a:rPr lang="en-US" altLang="en-US" sz="1400" b="1" dirty="0" err="1">
                <a:latin typeface="Symbol" panose="05050102010706020507" pitchFamily="18" charset="2"/>
              </a:rPr>
              <a:t>g</a:t>
            </a:r>
            <a:r>
              <a:rPr lang="en-US" altLang="en-US" sz="1400" b="1" dirty="0"/>
              <a:t> mRNA</a:t>
            </a:r>
          </a:p>
        </p:txBody>
      </p:sp>
      <p:sp>
        <p:nvSpPr>
          <p:cNvPr id="68" name="Rectangle 37">
            <a:extLst>
              <a:ext uri="{FF2B5EF4-FFF2-40B4-BE49-F238E27FC236}">
                <a16:creationId xmlns:a16="http://schemas.microsoft.com/office/drawing/2014/main" id="{64EDA0E5-511F-486C-E66A-AC229C2A6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346" y="5122856"/>
            <a:ext cx="1687662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 dirty="0">
                <a:solidFill>
                  <a:srgbClr val="FF0000"/>
                </a:solidFill>
              </a:rPr>
              <a:t>AS-</a:t>
            </a:r>
            <a:r>
              <a:rPr lang="en-US" altLang="en-US" sz="1400" b="1" dirty="0" err="1">
                <a:solidFill>
                  <a:srgbClr val="FF0000"/>
                </a:solidFill>
              </a:rPr>
              <a:t>FcR</a:t>
            </a:r>
            <a:r>
              <a:rPr lang="en-US" altLang="en-US" sz="1400" b="1" dirty="0" err="1">
                <a:solidFill>
                  <a:srgbClr val="FF0000"/>
                </a:solidFill>
                <a:latin typeface="Symbol" panose="05050102010706020507" pitchFamily="18" charset="2"/>
              </a:rPr>
              <a:t>g</a:t>
            </a:r>
            <a:r>
              <a:rPr lang="en-US" altLang="en-US" sz="1400" b="1" dirty="0">
                <a:solidFill>
                  <a:srgbClr val="FF0000"/>
                </a:solidFill>
              </a:rPr>
              <a:t> mRNA</a:t>
            </a:r>
          </a:p>
        </p:txBody>
      </p:sp>
      <p:sp>
        <p:nvSpPr>
          <p:cNvPr id="14" name="Oval 85">
            <a:extLst>
              <a:ext uri="{FF2B5EF4-FFF2-40B4-BE49-F238E27FC236}">
                <a16:creationId xmlns:a16="http://schemas.microsoft.com/office/drawing/2014/main" id="{2071BF97-2155-48C9-D83A-E3F62325A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7011" y="5065167"/>
            <a:ext cx="554433" cy="3209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 b="1" dirty="0">
                <a:solidFill>
                  <a:srgbClr val="FF0066"/>
                </a:solidFill>
              </a:rPr>
              <a:t>P(A)</a:t>
            </a:r>
          </a:p>
        </p:txBody>
      </p:sp>
    </p:spTree>
    <p:extLst>
      <p:ext uri="{BB962C8B-B14F-4D97-AF65-F5344CB8AC3E}">
        <p14:creationId xmlns:p14="http://schemas.microsoft.com/office/powerpoint/2010/main" val="3675330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1242</TotalTime>
  <Words>173</Words>
  <Application>Microsoft Macintosh PowerPoint</Application>
  <PresentationFormat>Widescreen</PresentationFormat>
  <Paragraphs>36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Symbol</vt:lpstr>
      <vt:lpstr>Office Theme</vt:lpstr>
      <vt:lpstr>Snp Plot hand paste-ups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Hendrickson, Curtis (Campus)</dc:creator>
  <cp:lastModifiedBy>Hendrickson, Curtis (Campus)</cp:lastModifiedBy>
  <cp:revision>6</cp:revision>
  <dcterms:created xsi:type="dcterms:W3CDTF">2025-12-08T17:11:35Z</dcterms:created>
  <dcterms:modified xsi:type="dcterms:W3CDTF">2025-12-09T14:39:25Z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2025-12-08T17:34:33Z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b6e8161f-d666-456b-838f-40b7b4a17b49</vt:lpwstr>
  </property>
  <property fmtid="{D5CDD505-2E9C-101B-9397-08002B2CF9AE}" pid="8" name="MSIP_Label_ae7542bc-63e5-412b-b0a0-d9586028a7d0_ContentBits">
    <vt:lpwstr>0</vt:lpwstr>
  </property>
  <property fmtid="{D5CDD505-2E9C-101B-9397-08002B2CF9AE}" pid="9" name="MSIP_Label_ae7542bc-63e5-412b-b0a0-d9586028a7d0_Tag">
    <vt:lpwstr>50, 3, 0, 1</vt:lpwstr>
  </property>
</Properties>
</file>